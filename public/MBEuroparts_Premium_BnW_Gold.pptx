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0"/>
            <a:ext cx="2194560" cy="1645920"/>
          </a:xfrm>
          <a:prstGeom prst="rect">
            <a:avLst/>
          </a:prstGeom>
          <a:solidFill>
            <a:srgbClr val="14141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0"/>
            <a:ext cx="64008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70848" y="0"/>
            <a:ext cx="73152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065776"/>
            <a:ext cx="6400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526280"/>
            <a:ext cx="6400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400" kern="0" dirty="0">
                <a:solidFill>
                  <a:srgbClr val="C9A84C"/>
                </a:solidFill>
              </a:rPr>
              <a:t>PROPUNERE OFICIALĂ DE PARTENERIAT  · 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MBEuroparts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Franciză Digitală AI · Piese Mercedes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36576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71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BBBBBB"/>
                </a:solidFill>
              </a:rPr>
              <a:t>Un departament complet de IT + Marketing + Vânzări livrat</a:t>
            </a:r>
            <a:endParaRPr lang="en-US" sz="13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BBBBBB"/>
                </a:solidFill>
              </a:rPr>
              <a:t>ca un singur abonament lunar — gata în 48 de ore.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2011680" cy="960120"/>
          </a:xfrm>
          <a:prstGeom prst="rect">
            <a:avLst/>
          </a:prstGeom>
          <a:solidFill>
            <a:srgbClr val="141414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886200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5020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65760" y="4480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8888"/>
                </a:solidFill>
              </a:rPr>
              <a:t>Agenți AI Digitali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3886200"/>
            <a:ext cx="2011680" cy="960120"/>
          </a:xfrm>
          <a:prstGeom prst="rect">
            <a:avLst/>
          </a:prstGeom>
          <a:solidFill>
            <a:srgbClr val="141414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14600" y="3886200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395020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6.500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514600" y="4480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8888"/>
                </a:solidFill>
              </a:rPr>
              <a:t>Piese în Catalog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3886200"/>
            <a:ext cx="2011680" cy="960120"/>
          </a:xfrm>
          <a:prstGeom prst="rect">
            <a:avLst/>
          </a:prstGeom>
          <a:solidFill>
            <a:srgbClr val="141414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886200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95020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663440" y="4480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8888"/>
                </a:solidFill>
              </a:rPr>
              <a:t>Disponibil Non-Stop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12280" y="3886200"/>
            <a:ext cx="2011680" cy="960120"/>
          </a:xfrm>
          <a:prstGeom prst="rect">
            <a:avLst/>
          </a:prstGeom>
          <a:solidFill>
            <a:srgbClr val="141414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3886200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395020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lei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812280" y="4480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8888"/>
                </a:solidFill>
              </a:rPr>
              <a:t>Taxă de Intrare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983480"/>
            <a:ext cx="8412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</a:rPr>
              <a:t>Sergiu Murgescu — MrDeliveryAI  ·  mbEUROparts · mbUSparts · mbUKparts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ESTE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MBEUROPARTS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2240280"/>
            <a:ext cx="2286000" cy="36576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3774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BBBBB"/>
                </a:solidFill>
              </a:rPr>
              <a:t>Imaginează-ți că ai 26 de angajați care lucrează non-stop — fără salariu mare, fără concedii, 24 din 24.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45720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3474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</a:rPr>
              <a:t>Site + Aplicație Proprie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60520" y="6400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Magazin online 24/7 cu catalog de 6.500 piese. Plăți direct — fără comisioane Autovit/OLX.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1033272"/>
            <a:ext cx="493776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1252728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143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</a:rPr>
              <a:t>6 Roboți pe Forumuri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60520" y="143560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Agenți AI activi pe BenzWorld, MBClub UK, Reddit. Răspund în engleză, germană sau română.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1828800"/>
            <a:ext cx="493776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2048256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19385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</a:rPr>
              <a:t>WhatsApp + Telefon AI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60520" y="223113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Clientul dă VIN-ul. Robotul verifică stocul și returnează prețul instant — inclusiv la 3 noaptea.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2624328"/>
            <a:ext cx="493776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2843784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273405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</a:rPr>
              <a:t>8 Marketplace-uri Auto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60520" y="302666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OLX, Autovit, eBay.de, eBay UK. Stoc sincronizat simultan. Prețuri dinamice automate.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31920" y="3419856"/>
            <a:ext cx="493776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0" y="363931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0520" y="352958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</a:rPr>
              <a:t>Video + Social Media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160520" y="382219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16–20 clipuri/lună pe TikTok, Instagram, Facebook, YouTube — create și postate automat.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31920" y="4215384"/>
            <a:ext cx="493776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443484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43251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</a:rPr>
              <a:t>ForumAutoAI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160520" y="461772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Forum auto cu 20 roboți AI. Trafic SEO organic gratuit pentru toți francizații din rețea.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C9A84C"/>
                </a:solidFill>
              </a:rPr>
              <a:t>02  INFRASTRUCTURA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Am Construit Deja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</a:rPr>
              <a:t>€15.000 investiți de MrDelivery. Cost setup pentru tine: €0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011680" cy="141732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91640"/>
            <a:ext cx="20116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562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</a:rPr>
              <a:t>3 Domenii Live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BBBBB"/>
                </a:solidFill>
              </a:rPr>
              <a:t>mbeuroparts.com / .ro / .shop — configurate și active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14600" y="1691640"/>
            <a:ext cx="2011680" cy="141732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691640"/>
            <a:ext cx="20116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8562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</a:rPr>
              <a:t>Site Profesional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51760" y="22402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BBBBB"/>
                </a:solidFill>
              </a:rPr>
              <a:t>Design premium, optimizat mobil, timp rapid de încărcare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691640"/>
            <a:ext cx="2011680" cy="141732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691640"/>
            <a:ext cx="20116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8562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</a:rPr>
              <a:t>22 Scripturi Python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22402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BBBBB"/>
                </a:solidFill>
              </a:rPr>
              <a:t>Scraping automat de produse și prețuri. Actualizare fără muncă manuală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03720" y="1691640"/>
            <a:ext cx="2011680" cy="141732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691640"/>
            <a:ext cx="20116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8562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</a:rPr>
              <a:t>6.500 Produse BD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0" y="22402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BBBBB"/>
                </a:solidFill>
              </a:rPr>
              <a:t>Catalogate complet: imagini, descrieri română/engleză, prețuri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291840"/>
            <a:ext cx="2011680" cy="141732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291840"/>
            <a:ext cx="20116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564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</a:rPr>
              <a:t>6 Agenți Activi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3840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BBBBB"/>
                </a:solidFill>
              </a:rPr>
              <a:t>Deja ONLINE și postând în timp real pe forumuri internaționale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14600" y="3291840"/>
            <a:ext cx="2011680" cy="141732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14600" y="3291840"/>
            <a:ext cx="20116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34564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</a:rPr>
              <a:t>Shopify + Stripe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51760" y="3840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BBBBB"/>
                </a:solidFill>
              </a:rPr>
              <a:t>Plăți online prin card din orice colț al lumii — imediat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291840"/>
            <a:ext cx="2011680" cy="141732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291840"/>
            <a:ext cx="20116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4564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</a:rPr>
              <a:t>18.000 Imagini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46320" y="3840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BBBBB"/>
                </a:solidFill>
              </a:rPr>
              <a:t>5–7 GB date vizuale, 14 categorii organizate, gata de listare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03720" y="3291840"/>
            <a:ext cx="2011680" cy="141732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03720" y="3291840"/>
            <a:ext cx="20116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34564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</a:rPr>
              <a:t>Model Standardizat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040880" y="3840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BBBBB"/>
                </a:solidFill>
              </a:rPr>
              <a:t>Replicabil pentru BMW, Audi, VW, Porsche — 10 mărci potențiale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C9A84C"/>
                </a:solidFill>
              </a:rPr>
              <a:t>03  CATALOGUL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Vinzi — 6.000+ Piese Mercedes Organizate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1920240" cy="868680"/>
          </a:xfrm>
          <a:prstGeom prst="rect">
            <a:avLst/>
          </a:prstGeom>
          <a:solidFill>
            <a:srgbClr val="0A0A0A"/>
          </a:solidFill>
          <a:ln w="9525">
            <a:solidFill>
              <a:srgbClr val="8A6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80160"/>
            <a:ext cx="19202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533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~6.000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79222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Produse în catalog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280160"/>
            <a:ext cx="1920240" cy="868680"/>
          </a:xfrm>
          <a:prstGeom prst="rect">
            <a:avLst/>
          </a:prstGeom>
          <a:solidFill>
            <a:srgbClr val="0A0A0A"/>
          </a:solidFill>
          <a:ln w="9525">
            <a:solidFill>
              <a:srgbClr val="8A6F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280160"/>
            <a:ext cx="19202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3533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~18.000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179222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Fotografii de produs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280160"/>
            <a:ext cx="1920240" cy="868680"/>
          </a:xfrm>
          <a:prstGeom prst="rect">
            <a:avLst/>
          </a:prstGeom>
          <a:solidFill>
            <a:srgbClr val="0A0A0A"/>
          </a:solidFill>
          <a:ln w="9525">
            <a:solidFill>
              <a:srgbClr val="8A6F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280160"/>
            <a:ext cx="19202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3533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179222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Categorii organizate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1280160"/>
            <a:ext cx="1920240" cy="868680"/>
          </a:xfrm>
          <a:prstGeom prst="rect">
            <a:avLst/>
          </a:prstGeom>
          <a:solidFill>
            <a:srgbClr val="0A0A0A"/>
          </a:solidFill>
          <a:ln w="9525">
            <a:solidFill>
              <a:srgbClr val="8A6F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280160"/>
            <a:ext cx="19202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3533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€0,5–2M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179222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Valoare estimată stoc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331720"/>
            <a:ext cx="4114800" cy="338328"/>
          </a:xfrm>
          <a:prstGeom prst="rect">
            <a:avLst/>
          </a:prstGeom>
          <a:solidFill>
            <a:srgbClr val="0A0A0A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331720"/>
            <a:ext cx="54864" cy="3383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38658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</a:rPr>
              <a:t>AMG Alloy Rims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29000" y="238658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482 unid.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724912"/>
            <a:ext cx="4114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77977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</a:rPr>
              <a:t>Alloy Rims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29000" y="277977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600–800 unid.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118104"/>
            <a:ext cx="4114800" cy="338328"/>
          </a:xfrm>
          <a:prstGeom prst="rect">
            <a:avLst/>
          </a:prstGeom>
          <a:solidFill>
            <a:srgbClr val="F9F7F2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17296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</a:rPr>
              <a:t>Lighting / Faruri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29000" y="3172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500–800 unid.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511296"/>
            <a:ext cx="4114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56616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</a:rPr>
              <a:t>Electronics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29000" y="35661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400–600 unid.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904488"/>
            <a:ext cx="4114800" cy="338328"/>
          </a:xfrm>
          <a:prstGeom prst="rect">
            <a:avLst/>
          </a:prstGeom>
          <a:solidFill>
            <a:srgbClr val="F9F7F2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95935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</a:rPr>
              <a:t>Drivetrain / Transmisie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429000" y="395935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400–600 unid.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297680"/>
            <a:ext cx="4114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35254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</a:rPr>
              <a:t>Seat Sets / Scaune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429000" y="43525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250–400 unid.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690872"/>
            <a:ext cx="4114800" cy="338328"/>
          </a:xfrm>
          <a:prstGeom prst="rect">
            <a:avLst/>
          </a:prstGeom>
          <a:solidFill>
            <a:srgbClr val="F9F7F2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4573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</a:rPr>
              <a:t>Air Conditioning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429000" y="474573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200–350 unid.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2331720"/>
            <a:ext cx="4114800" cy="338328"/>
          </a:xfrm>
          <a:prstGeom prst="rect">
            <a:avLst/>
          </a:prstGeom>
          <a:solidFill>
            <a:srgbClr val="F9F7F2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38658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</a:rPr>
              <a:t>Exhaust Systems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63840" y="238658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200–400 unid.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2724912"/>
            <a:ext cx="4114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277977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</a:rPr>
              <a:t>Outside Mirrors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863840" y="277977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200–400 unid.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3118104"/>
            <a:ext cx="4114800" cy="338328"/>
          </a:xfrm>
          <a:prstGeom prst="rect">
            <a:avLst/>
          </a:prstGeom>
          <a:solidFill>
            <a:srgbClr val="F9F7F2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317296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</a:rPr>
              <a:t>Bare Față / Spate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863840" y="3172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300–500 unid.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54880" y="3511296"/>
            <a:ext cx="4114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356616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</a:rPr>
              <a:t>Accessories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863840" y="35661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300–500 unid.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54880" y="3904488"/>
            <a:ext cx="4114800" cy="338328"/>
          </a:xfrm>
          <a:prstGeom prst="rect">
            <a:avLst/>
          </a:prstGeom>
          <a:solidFill>
            <a:srgbClr val="F9F7F2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395935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</a:rPr>
              <a:t>Dashboard / Bord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863840" y="395935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150–250 unid.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754880" y="4297680"/>
            <a:ext cx="4114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435254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</a:rPr>
              <a:t>Steering Wheels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863840" y="43525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154 unid.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754880" y="4690872"/>
            <a:ext cx="4114800" cy="338328"/>
          </a:xfrm>
          <a:prstGeom prst="rect">
            <a:avLst/>
          </a:prstGeom>
          <a:solidFill>
            <a:srgbClr val="F9F7F2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92040" y="474573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</a:rPr>
              <a:t>Floor Mat Sets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863840" y="474573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80–150 unid.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C9A84C"/>
                </a:solidFill>
              </a:rPr>
              <a:t>04  MODULELE PLATFORMEI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Module. 4 Probleme Rezolvate.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11680" cy="365760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25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9768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6 Roboți pe Forumuri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€750–1.600/lună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2724912"/>
            <a:ext cx="164592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79806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C4444"/>
                </a:solidFill>
              </a:rPr>
              <a:t>PROBLEMA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29768" y="29992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Nu ai timp să stai pe forumuri să cauți clienți.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35935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9A84C"/>
                </a:solidFill>
              </a:rPr>
              <a:t>SOLUȚIA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9768" y="37947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EDE6"/>
                </a:solidFill>
              </a:rPr>
              <a:t>6 agenți AI caută zilnic pe BenzWorld, MBClub UK, Reddit. Răspund în engleză, germană sau română — tu nu faci nimic.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1234440"/>
            <a:ext cx="2011680" cy="365760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14600" y="1234440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1325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624328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Video &amp; Social Media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24328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1.625 RON/lună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24328" y="2724912"/>
            <a:ext cx="164592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279806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C4444"/>
                </a:solidFill>
              </a:rPr>
              <a:t>PROBLEMA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624328" y="29992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Nu ai echipă de marketing și nu ai timp să filmezi.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24328" y="35935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9A84C"/>
                </a:solidFill>
              </a:rPr>
              <a:t>SOLUȚIA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624328" y="37947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EDE6"/>
                </a:solidFill>
              </a:rPr>
              <a:t>16–20 clipuri/lună create și postate automat pe TikTok, Instagram, Facebook, YouTube. Brandul crește zilnic.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1234440"/>
            <a:ext cx="2011680" cy="365760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234440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1325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818888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Asistent AI 24/7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18888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1.500 RON/lună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18888" y="2724912"/>
            <a:ext cx="164592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79806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C4444"/>
                </a:solidFill>
              </a:rPr>
              <a:t>PROBLEMA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18888" y="29992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Clienții sună noaptea sau când ești ocupat.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18888" y="35935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9A84C"/>
                </a:solidFill>
              </a:rPr>
              <a:t>SOLUȚIA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18888" y="37947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EDE6"/>
                </a:solidFill>
              </a:rPr>
              <a:t>Robotul răspunde la WhatsApp și telefon. Clientul dă VIN-ul, primește prețul în secunde — la orice oră.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03720" y="1234440"/>
            <a:ext cx="2011680" cy="365760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903720" y="1234440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13448" y="1325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013448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8 Marketplace-uri Auto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13448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1.500 RON/lună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13448" y="2724912"/>
            <a:ext cx="164592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13448" y="279806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C4444"/>
                </a:solidFill>
              </a:rPr>
              <a:t>PROBLEMA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013448" y="29992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8888"/>
                </a:solidFill>
              </a:rPr>
              <a:t>Postezi manual pe OLX, Autovit, eBay — durează ore.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13448" y="35935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9A84C"/>
                </a:solidFill>
              </a:rPr>
              <a:t>SOLUȚIA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013448" y="37947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0EDE6"/>
                </a:solidFill>
              </a:rPr>
              <a:t>Produsele apar simultan pe toate 8 platformele. Stoc sincronizat instantaneu. Prețuri dinamice automate.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C9A84C"/>
                </a:solidFill>
              </a:rPr>
              <a:t>05  MECANISMUL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Forum la Bani în Cont — Complet Automat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731520" cy="73152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91640" y="1463040"/>
            <a:ext cx="292608" cy="18288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057400"/>
            <a:ext cx="1554480" cy="2834640"/>
          </a:xfrm>
          <a:prstGeom prst="rect">
            <a:avLst/>
          </a:prstGeom>
          <a:solidFill>
            <a:srgbClr val="F9F7F2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057400"/>
            <a:ext cx="15544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76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0A0A"/>
                </a:solidFill>
              </a:rPr>
              <a:t>Robotul Scanează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670048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Agentul monitorizează non-stop BenzWorld.com, Reddit, MBClub UK și alte forumuri internaționale de profil.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0" y="1143000"/>
            <a:ext cx="731520" cy="73152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29000" y="1463040"/>
            <a:ext cx="292608" cy="18288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2057400"/>
            <a:ext cx="1554480" cy="2834640"/>
          </a:xfrm>
          <a:prstGeom prst="rect">
            <a:avLst/>
          </a:prstGeom>
          <a:solidFill>
            <a:srgbClr val="F9F7F2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2057400"/>
            <a:ext cx="15544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2176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0A0A"/>
                </a:solidFill>
              </a:rPr>
              <a:t>Găsește Cererea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2670048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Identifică postări reale: "Looking for AMG 19 inch rims for C-Class W205" — postat de un client din Germania.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0" y="1143000"/>
            <a:ext cx="731520" cy="73152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166360" y="1463040"/>
            <a:ext cx="292608" cy="18288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2057400"/>
            <a:ext cx="1554480" cy="2834640"/>
          </a:xfrm>
          <a:prstGeom prst="rect">
            <a:avLst/>
          </a:prstGeom>
          <a:solidFill>
            <a:srgbClr val="F9F7F2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2057400"/>
            <a:ext cx="15544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2176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0A0A"/>
                </a:solidFill>
              </a:rPr>
              <a:t>Răspunde Instant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86200" y="2670048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Agentul scrie imediat în engleză nativă: confirmă compatibilitatea, oferă prețul, trimite link-ul direct la produs.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1143000"/>
            <a:ext cx="731520" cy="73152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903720" y="1463040"/>
            <a:ext cx="292608" cy="18288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32120" y="2057400"/>
            <a:ext cx="1554480" cy="2834640"/>
          </a:xfrm>
          <a:prstGeom prst="rect">
            <a:avLst/>
          </a:prstGeom>
          <a:solidFill>
            <a:srgbClr val="F9F7F2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32120" y="2057400"/>
            <a:ext cx="15544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2176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0A0A"/>
                </a:solidFill>
              </a:rPr>
              <a:t>Clientul Comandă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23560" y="2670048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Clientul plătește prin Stripe pe site. Tu primești notificare. Stocul se actualizează simultan pe toate 8 platformele.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772400" y="1143000"/>
            <a:ext cx="731520" cy="73152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269480" y="2057400"/>
            <a:ext cx="1554480" cy="2834640"/>
          </a:xfrm>
          <a:prstGeom prst="rect">
            <a:avLst/>
          </a:prstGeom>
          <a:solidFill>
            <a:srgbClr val="F9F7F2"/>
          </a:solidFill>
          <a:ln w="9525">
            <a:solidFill>
              <a:srgbClr val="E8E4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9480" y="2057400"/>
            <a:ext cx="15544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60920" y="2176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0A0A"/>
                </a:solidFill>
              </a:rPr>
              <a:t>Tu Monitorizezi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60920" y="2670048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Dashboard-ul îți arată comenzi, surse clienți, piese căutate. Decizii bazate pe date reale, nu pe intuiție.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C9A84C"/>
                </a:solidFill>
              </a:rPr>
              <a:t>07  MODELUL DE PREȚURI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Transparent.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Corect.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Fără Surprize.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2240280"/>
            <a:ext cx="3200400" cy="36576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377440"/>
            <a:ext cx="3931920" cy="68580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377440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505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Formula: 0 lei intrare + 5.000 RON/lună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1821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Cost lunar vs. a construi singur: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511296"/>
            <a:ext cx="3931920" cy="329184"/>
          </a:xfrm>
          <a:prstGeom prst="rect">
            <a:avLst/>
          </a:prstGeom>
          <a:solidFill>
            <a:srgbClr val="1C1C1C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570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Dev Local (RO)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355701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€1.380–3.380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877056"/>
            <a:ext cx="3931920" cy="329184"/>
          </a:xfrm>
          <a:prstGeom prst="rect">
            <a:avLst/>
          </a:prstGeom>
          <a:solidFill>
            <a:srgbClr val="141414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227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Dev USA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392277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$3.850–9.120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242816"/>
            <a:ext cx="3931920" cy="329184"/>
          </a:xfrm>
          <a:prstGeom prst="rect">
            <a:avLst/>
          </a:prstGeom>
          <a:solidFill>
            <a:srgbClr val="1C1C1C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885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Dev UK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428853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£2.490–5.790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608576"/>
            <a:ext cx="3931920" cy="329184"/>
          </a:xfrm>
          <a:prstGeom prst="rect">
            <a:avLst/>
          </a:prstGeom>
          <a:solidFill>
            <a:srgbClr val="C9A84C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5429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</a:rPr>
              <a:t>MBEuroparts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465429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0A0A"/>
                </a:solidFill>
              </a:rPr>
              <a:t>5.000 RON 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560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9A84C"/>
                </a:solidFill>
              </a:rPr>
              <a:t>TAXĂ DE INTRARE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493776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lei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4754880" y="11155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Setup complet inclus. Plătit o singură dată.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536192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508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Setup complet sistem digital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84708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18196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Toate cele 4 module activate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157984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130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Training &amp; onboarding complet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542032"/>
            <a:ext cx="402336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6517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9A84C"/>
                </a:solidFill>
              </a:rPr>
              <a:t>ABONAMENT LUNAR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287121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5.000 RON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4754880" y="34472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Acoperă toate costurile operaționale. Factură fiscală.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867912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840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API AI (Claude/GPT-4) — 20+ agenți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4160520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41330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Server cloud + CDN + backup + SSL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4531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4425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Mentenanță lunară + bugfix-uri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4754880"/>
            <a:ext cx="4389120" cy="347472"/>
          </a:xfrm>
          <a:prstGeom prst="rect">
            <a:avLst/>
          </a:prstGeom>
          <a:solidFill>
            <a:srgbClr val="0A0A0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7548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100% CÂȘTIG AL TĂU  —  Zero royalty. Zero comision.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C9A84C"/>
                </a:solidFill>
              </a:rPr>
              <a:t>08  RETURN ON INVESTMENT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Câte Comenzi Îți Trebuie?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Plătești 5.000 RON (~€1.000/lună). Valoarea medie a unei piese Mercedes: €150–500. Îți trebuie 3–7 comenzi extra.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743200" cy="342900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2743200" cy="384048"/>
          </a:xfrm>
          <a:prstGeom prst="rect">
            <a:avLst/>
          </a:prstGeom>
          <a:solidFill>
            <a:srgbClr val="222222"/>
          </a:solidFill>
          <a:ln w="9525">
            <a:solidFill>
              <a:srgbClr val="8A6F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270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AAAAAA"/>
                </a:solidFill>
              </a:rPr>
              <a:t>CONSERVATOR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~€400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7066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profit/lună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3044952"/>
            <a:ext cx="2194560" cy="18288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5 comenzi / lună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€200 valoare medie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B85C"/>
                </a:solidFill>
              </a:rPr>
              <a:t>+€1.000 venituri extra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4444"/>
                </a:solidFill>
              </a:rPr>
              <a:t>−€1.000 cost abonament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471416"/>
            <a:ext cx="2468880" cy="18288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354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888888"/>
                </a:solidFill>
              </a:rPr>
              <a:t>Recuperezi investiția inițială în mai puțin de 3 luni.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46120" y="1508760"/>
            <a:ext cx="2743200" cy="3429000"/>
          </a:xfrm>
          <a:prstGeom prst="rect">
            <a:avLst/>
          </a:prstGeom>
          <a:solidFill>
            <a:srgbClr val="111111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508760"/>
            <a:ext cx="2743200" cy="384048"/>
          </a:xfrm>
          <a:prstGeom prst="rect">
            <a:avLst/>
          </a:prstGeom>
          <a:solidFill>
            <a:srgbClr val="C9A84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5270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A0A0A"/>
                </a:solidFill>
              </a:rPr>
              <a:t>REALIST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199339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~€2.400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383280" y="27066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profit/lună  ·  ROI 200%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20440" y="3044952"/>
            <a:ext cx="2194560" cy="18288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15 comenzi / lună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83280" y="3474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€300 valoare medie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8328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B85C"/>
                </a:solidFill>
              </a:rPr>
              <a:t>+€4.500 venituri extra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83280" y="4114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4444"/>
                </a:solidFill>
              </a:rPr>
              <a:t>−€1.000 cost abonament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4471416"/>
            <a:ext cx="2468880" cy="18288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45354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888888"/>
                </a:solidFill>
              </a:rPr>
              <a:t>Scenariul cel mai probabil cu sistemul activ complet.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72200" y="1508760"/>
            <a:ext cx="2743200" cy="342900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1508760"/>
            <a:ext cx="2743200" cy="384048"/>
          </a:xfrm>
          <a:prstGeom prst="rect">
            <a:avLst/>
          </a:prstGeom>
          <a:solidFill>
            <a:srgbClr val="1A1A1A"/>
          </a:solidFill>
          <a:ln w="9525">
            <a:solidFill>
              <a:srgbClr val="8A6F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15270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BBBBB"/>
                </a:solidFill>
              </a:rPr>
              <a:t>OPTIMIST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199339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€6.800+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309360" y="27066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profit/lună  ·  ROI 567%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46520" y="3044952"/>
            <a:ext cx="2194560" cy="18288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25+ comenzi / lună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09360" y="3474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</a:rPr>
              <a:t>€400 valoare medie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0936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B85C"/>
                </a:solidFill>
              </a:rPr>
              <a:t>+€10.000+ venituri extra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09360" y="4114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4444"/>
                </a:solidFill>
              </a:rPr>
              <a:t>−€1.000 cost abonament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09360" y="4471416"/>
            <a:ext cx="2468880" cy="18288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45354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888888"/>
                </a:solidFill>
              </a:rPr>
              <a:t>Piețele germană + britanică + americană active simultan.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C9A84C"/>
                </a:solidFill>
              </a:rPr>
              <a:t>10 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Semnătură la Imperiu Digital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7680960" cy="36576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1097280" y="2057400"/>
            <a:ext cx="2743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</a:rPr>
              <a:t>LUNA 1–2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Lansare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423160"/>
            <a:ext cx="1920240" cy="2468880"/>
          </a:xfrm>
          <a:prstGeom prst="rect">
            <a:avLst/>
          </a:prstGeom>
          <a:solidFill>
            <a:srgbClr val="F9F7F2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423160"/>
            <a:ext cx="19202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78608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420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Site MBEuroparts live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3108960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7238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Catalog 6.500 produse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" y="3639312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0273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6 agenți forumuri activi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" y="4169664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13308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Vizibil DE, UK, SUA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2700000">
            <a:off x="3246120" y="2057400"/>
            <a:ext cx="2743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</a:rPr>
              <a:t>LUNA 3–4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Primele Rezultate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60320" y="2423160"/>
            <a:ext cx="1920240" cy="2468880"/>
          </a:xfrm>
          <a:prstGeom prst="rect">
            <a:avLst/>
          </a:prstGeom>
          <a:solidFill>
            <a:srgbClr val="F9F7F2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2423160"/>
            <a:ext cx="19202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70048" y="2578608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25420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Comenzi din forumuri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70048" y="3108960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307238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16–20 clipuri/lună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70048" y="3639312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0" y="360273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ForumAutoAI activ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70048" y="4169664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413308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Raport ROI detaliat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rot="2700000">
            <a:off x="5394960" y="2057400"/>
            <a:ext cx="2743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</a:rPr>
              <a:t>LUNA 5–6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0916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Break-Even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9160" y="2423160"/>
            <a:ext cx="1920240" cy="2468880"/>
          </a:xfrm>
          <a:prstGeom prst="rect">
            <a:avLst/>
          </a:prstGeom>
          <a:solidFill>
            <a:srgbClr val="F9F7F2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2423160"/>
            <a:ext cx="19202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18888" y="2578608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25420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Sistem pe profit net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18888" y="3108960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07238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BMW + Audi în rețea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18888" y="3639312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360273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20 agenți activi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18888" y="4169664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413308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Venituri pasive rețea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 rot="2700000">
            <a:off x="7543800" y="2057400"/>
            <a:ext cx="2743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</a:rPr>
              <a:t>LUNA 7–12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5800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Imperiu Digital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58000" y="2423160"/>
            <a:ext cx="1920240" cy="2468880"/>
          </a:xfrm>
          <a:prstGeom prst="rect">
            <a:avLst/>
          </a:prstGeom>
          <a:solidFill>
            <a:srgbClr val="F9F7F2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8000" y="2423160"/>
            <a:ext cx="19202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67728" y="2578608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0" y="25420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5–7 francizați activi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67728" y="3108960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0" y="307238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50.000+ vizitatori/lună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67728" y="3639312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360273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Expansiune FR, IT, NL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967728" y="4169664"/>
            <a:ext cx="82296" cy="8229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0" y="413308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Exit strategic sau global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Semnezi azi  →  Ești live în 48 ore  →  Primele comenzi: 30–60 zile  →  Break-even: luna 3–5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7315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6400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274320"/>
            <a:ext cx="7315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05672" y="274320"/>
            <a:ext cx="6400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4800600"/>
            <a:ext cx="7315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4160520"/>
            <a:ext cx="6400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4800600"/>
            <a:ext cx="7315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05672" y="4160520"/>
            <a:ext cx="6400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0" kern="0" dirty="0">
                <a:solidFill>
                  <a:srgbClr val="C9A84C"/>
                </a:solidFill>
              </a:rPr>
              <a:t>12  ACȚIUNEA 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Alege Opțiunea Ta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</a:rPr>
              <a:t>Semnezi azi. Ești live în 48 de ore.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2606040" cy="297180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64792"/>
            <a:ext cx="2606040" cy="54864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8745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" y="22860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Start cu Baza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" y="2679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</a:rPr>
              <a:t>Forumuri + Marketplace-uri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" y="2999232"/>
            <a:ext cx="22402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072384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88888"/>
                </a:solidFill>
              </a:rPr>
              <a:t>Testezi 30 de zile. Dacă nu ești mulțumit de rezultate, oprești. Intrare minimă, risc minim.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" y="3877056"/>
            <a:ext cx="22402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950208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0 lei intrare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1792" y="4261104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5.000 RON / lună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46120" y="1764792"/>
            <a:ext cx="2606040" cy="2971800"/>
          </a:xfrm>
          <a:prstGeom prst="rect">
            <a:avLst/>
          </a:prstGeom>
          <a:solidFill>
            <a:srgbClr val="0D0D0D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1764792"/>
            <a:ext cx="26060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18745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410712" y="22860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All-Inclusive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10712" y="2679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84C"/>
                </a:solidFill>
              </a:rPr>
              <a:t>Recomandat ·  Business Complet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10712" y="2999232"/>
            <a:ext cx="22402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3072384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88888"/>
                </a:solidFill>
              </a:rPr>
              <a:t>Toate cele 4 module + ForumAutoAI + 20 agenți AI + App mobilă Android &amp; iOS. Gata în 48 ore.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10712" y="3877056"/>
            <a:ext cx="22402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0712" y="3950208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84C"/>
                </a:solidFill>
              </a:rPr>
              <a:t>0 lei intrare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410712" y="4261104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5.000 RON / lună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35040" y="1764792"/>
            <a:ext cx="2606040" cy="2971800"/>
          </a:xfrm>
          <a:prstGeom prst="rect">
            <a:avLst/>
          </a:prstGeom>
          <a:solidFill>
            <a:srgbClr val="1C1C1C"/>
          </a:solidFill>
          <a:ln w="9525">
            <a:solidFill>
              <a:srgbClr val="8A6F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1764792"/>
            <a:ext cx="2606040" cy="54864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18745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199632" y="22860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Custom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99632" y="2679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</a:rPr>
              <a:t>La cerere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2999232"/>
            <a:ext cx="22402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3072384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88888"/>
                </a:solidFill>
              </a:rPr>
              <a:t>Configurație specială, demo live sau întrebări tehnice? Contactează-ne direct. Fără presiune.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99632" y="3877056"/>
            <a:ext cx="22402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3950208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Discutăm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199632" y="4261104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Fără presiune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97280" y="4773168"/>
            <a:ext cx="694944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7280" y="4773168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</a:rPr>
              <a:t>Sergiu Murgescu  ·  Telegram: @MrDeliveryAI  ·  Implementare completă în 48 de ore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MBEuroparts — Franciză Digitală AI</dc:title>
  <dc:subject>PptxGenJS Presentation</dc:subject>
  <dc:creator>PptxGenJS</dc:creator>
  <cp:lastModifiedBy>PptxGenJS</cp:lastModifiedBy>
  <cp:revision>1</cp:revision>
  <dcterms:created xsi:type="dcterms:W3CDTF">2026-02-26T12:52:30Z</dcterms:created>
  <dcterms:modified xsi:type="dcterms:W3CDTF">2026-02-26T12:52:30Z</dcterms:modified>
</cp:coreProperties>
</file>